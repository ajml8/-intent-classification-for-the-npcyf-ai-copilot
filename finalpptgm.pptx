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1.xml" ContentType="application/inkml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ink/ink7.xml" ContentType="application/inkml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6" r:id="rId7"/>
    <p:sldId id="261" r:id="rId8"/>
    <p:sldId id="262" r:id="rId9"/>
    <p:sldId id="263" r:id="rId10"/>
    <p:sldId id="264" r:id="rId11"/>
    <p:sldId id="265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1" d="100"/>
          <a:sy n="101" d="100"/>
        </p:scale>
        <p:origin x="280" y="1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1:42:25.8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24575,'0'48'-8191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1:42:29.9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1:42:31.1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1:42:33.5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1:42:33.9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1:42:34.1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1:42:39.7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3/29/2026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6.xml"/><Relationship Id="rId3" Type="http://schemas.openxmlformats.org/officeDocument/2006/relationships/customXml" Target="../ink/ink2.xml"/><Relationship Id="rId7" Type="http://schemas.openxmlformats.org/officeDocument/2006/relationships/customXml" Target="../ink/ink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4.xml"/><Relationship Id="rId5" Type="http://schemas.openxmlformats.org/officeDocument/2006/relationships/customXml" Target="../ink/ink3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0"/>
            <a:ext cx="8641080" cy="5486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228600"/>
            <a:ext cx="2651760" cy="594360"/>
          </a:xfrm>
          <a:prstGeom prst="rect">
            <a:avLst/>
          </a:prstGeom>
          <a:solidFill>
            <a:srgbClr val="0D7377">
              <a:alpha val="80000"/>
            </a:srgbClr>
          </a:solidFill>
          <a:ln w="12700">
            <a:solidFill>
              <a:srgbClr val="14BDB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0" y="228600"/>
            <a:ext cx="26517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IDEAS-TIH · ISI Kolkata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FASAL 2.0 Initiative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822960"/>
            <a:ext cx="822960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Intent Classifier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685800" y="196596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4BDB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 the NPCYF AI CoPilot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85800" y="2651760"/>
            <a:ext cx="4389120" cy="457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788920"/>
            <a:ext cx="77724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Muhammed Ajmal M C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4BDB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M.Sc. Data Science  |  Aligarh Muslim University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7F8C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Guide: Kunal Gupta  |  IDEAS-TIH, ISI Kolkata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3931920"/>
            <a:ext cx="3200400" cy="384048"/>
          </a:xfrm>
          <a:prstGeom prst="rect">
            <a:avLst/>
          </a:prstGeom>
          <a:solidFill>
            <a:srgbClr val="1A2B3C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931920"/>
            <a:ext cx="32004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4BDBC"/>
                </a:solidFill>
              </a:rPr>
              <a:t>Internship Period:  21 Jan 2026 – 31 Mar 2026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11E2A"/>
          </a:solidFill>
          <a:ln w="12700">
            <a:solidFill>
              <a:srgbClr val="111E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8C8D"/>
                </a:solidFill>
              </a:rPr>
              <a:t>National Platform for Crop Yield Forecasting  ·  DA&amp;FW, Govt. of India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9144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0"/>
            <a:ext cx="8229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The Organisation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39319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blurRad="76200" dist="25400" dir="8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3931920" cy="1645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61872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3C"/>
                </a:solidFill>
              </a:rPr>
              <a:t>IDEAS-TIH · ISI Kolkata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691640"/>
            <a:ext cx="3657600" cy="2926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</a:rPr>
              <a:t>IDEAS — Institute of Data Engineering, Analytics and Science Foundation — is the Technology Innovation Hub (TIH) at the Indian Statistical Institute (ISI), Kolkata.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</a:rPr>
              <a:t>Established under the National Mission on Interdisciplinary Cyber-Physical Systems by the Department of Science &amp; Technology (DST), IDEAS-TIH combines ISI's deep statistical expertise with cutting-edge AI and data science capabilities.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</a:rPr>
              <a:t>NPCYF was built here for the Department of Agriculture and Farmers' Welfare under the FASAL 2.0 initiative.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34840" y="1051560"/>
            <a:ext cx="44348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blurRad="76200" dist="25400" dir="8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34840" y="1051560"/>
            <a:ext cx="91440" cy="111556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1124712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7377"/>
                </a:solidFill>
              </a:rPr>
              <a:t>DA&amp;FW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17720" y="1380744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3C"/>
                </a:solidFill>
              </a:rPr>
              <a:t>Dept. of Agriculture &amp; Farmers' Welfare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17720" y="1600200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</a:rPr>
              <a:t>Nodal ministry commissioning NPCYF for national crop forecasting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434840" y="2286000"/>
            <a:ext cx="44348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blurRad="76200" dist="25400" dir="8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434840" y="2286000"/>
            <a:ext cx="91440" cy="111556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2359152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7377"/>
                </a:solidFill>
              </a:rPr>
              <a:t>DST / NMICPS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17720" y="2615184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3C"/>
                </a:solidFill>
              </a:rPr>
              <a:t>National Mission on Cyber-Physical Systems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17720" y="2834640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</a:rPr>
              <a:t>Funds and governs the TIH programme under which IDEAS-TIH operates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434840" y="3520440"/>
            <a:ext cx="44348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blurRad="76200" dist="25400" dir="8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434840" y="3520440"/>
            <a:ext cx="91440" cy="111556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17720" y="3593592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7377"/>
                </a:solidFill>
              </a:rPr>
              <a:t>ISI Kolkata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617720" y="3849624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3C"/>
                </a:solidFill>
              </a:rPr>
              <a:t>Indian Statistical Institute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17720" y="4069080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</a:rPr>
              <a:t>Host institution — one of India's premier research institutes for statistics and data science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8C8D"/>
                </a:solidFill>
              </a:rPr>
              <a:t>Muhammed Ajmal M C  ·  AMU  ·  Spring Internship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9144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0"/>
            <a:ext cx="8229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NPCYF — The Platform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34747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blurRad="76200" dist="25400" dir="8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3474720" cy="1645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61872"/>
            <a:ext cx="32004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3C"/>
                </a:solidFill>
              </a:rPr>
              <a:t>What is NPCYF?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691640"/>
            <a:ext cx="3200400" cy="2926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</a:rPr>
              <a:t>The National Platform for Crop Yield Forecasting (NPCYF) is an AI-powered web platform for forecasting crop yields across India.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</a:rPr>
              <a:t>It handles the entire pipeline from raw data ingestion to final yield predictions, serving policy makers, researchers, and agricultural planners.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</a:rPr>
              <a:t>Built under FASAL 2.0 by IDEAS-TIH at ISI Kolkata.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977640" y="1051560"/>
            <a:ext cx="489204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blurRad="76200" dist="25400" dir="8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041648" y="1133856"/>
            <a:ext cx="347472" cy="34747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41648" y="1133856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498848" y="1170432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B3C"/>
                </a:solidFill>
              </a:rPr>
              <a:t>Data Ingestion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977640" y="1645920"/>
            <a:ext cx="489204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blurRad="76200" dist="25400" dir="8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041648" y="1728216"/>
            <a:ext cx="347472" cy="34747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41648" y="1728216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498848" y="1764792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B3C"/>
                </a:solidFill>
              </a:rPr>
              <a:t>Feature Engineering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977640" y="2240280"/>
            <a:ext cx="489204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blurRad="76200" dist="25400" dir="8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041648" y="2322576"/>
            <a:ext cx="347472" cy="34747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41648" y="2322576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498848" y="2359152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B3C"/>
                </a:solidFill>
              </a:rPr>
              <a:t>Model Building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977640" y="2834640"/>
            <a:ext cx="489204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blurRad="76200" dist="25400" dir="8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041648" y="2916936"/>
            <a:ext cx="347472" cy="34747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41648" y="2916936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498848" y="2953512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B3C"/>
                </a:solidFill>
              </a:rPr>
              <a:t>Forecasting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3977640" y="3429000"/>
            <a:ext cx="489204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blurRad="76200" dist="25400" dir="8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041648" y="3511296"/>
            <a:ext cx="347472" cy="34747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41648" y="3511296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498848" y="3547872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B3C"/>
                </a:solidFill>
              </a:rPr>
              <a:t>Admin Management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3977640" y="4023360"/>
            <a:ext cx="4892040" cy="521208"/>
          </a:xfrm>
          <a:prstGeom prst="rect">
            <a:avLst/>
          </a:prstGeom>
          <a:solidFill>
            <a:srgbClr val="1A2B3C"/>
          </a:solidFill>
          <a:ln w="12700">
            <a:solidFill>
              <a:srgbClr val="E67E22"/>
            </a:solidFill>
            <a:prstDash val="solid"/>
          </a:ln>
          <a:effectLst>
            <a:outerShdw blurRad="76200" dist="25400" dir="8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041648" y="4105656"/>
            <a:ext cx="347472" cy="347472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041648" y="4105656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498848" y="4142232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BDBC"/>
                </a:solidFill>
              </a:rPr>
              <a:t>AI CoPilot  ★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8C8D"/>
                </a:solidFill>
              </a:rPr>
              <a:t>Muhammed Ajmal M C  ·  AMU  ·  Spring Internship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9144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0"/>
            <a:ext cx="8229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My Work — The Problem I Solved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8595360" cy="822960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  <a:effectLst>
            <a:outerShdw blurRad="76200" dist="25400" dir="8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91440" cy="8229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The NPCYF AI CoPilot receives user questions in plain English. It needs to know what kind of question it is before it can respond correctly — that's the intent classification problem.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74320" y="2057400"/>
            <a:ext cx="2715768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blurRad="76200" dist="25400" dir="8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2057400"/>
            <a:ext cx="2715768" cy="2926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057400"/>
            <a:ext cx="253288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general_query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" y="2423160"/>
            <a:ext cx="249631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3C"/>
                </a:solidFill>
              </a:rPr>
              <a:t>Example queries: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4048" y="2743200"/>
            <a:ext cx="2496312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F8C8D"/>
                </a:solidFill>
              </a:rPr>
              <a:t>"What is machine learning?"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84048" y="3310128"/>
            <a:ext cx="2496312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F8C8D"/>
                </a:solidFill>
              </a:rPr>
              <a:t>"Who invented the telephone?"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84048" y="3877056"/>
            <a:ext cx="2496312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F8C8D"/>
                </a:solidFill>
              </a:rPr>
              <a:t>"What is crop yield?"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172968" y="2057400"/>
            <a:ext cx="2715768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blurRad="76200" dist="25400" dir="8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72968" y="2057400"/>
            <a:ext cx="2715768" cy="292608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64408" y="2057400"/>
            <a:ext cx="253288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database_query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82696" y="2423160"/>
            <a:ext cx="249631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3C"/>
                </a:solidFill>
              </a:rPr>
              <a:t>Example queries: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82696" y="2743200"/>
            <a:ext cx="2496312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F8C8D"/>
                </a:solidFill>
              </a:rPr>
              <a:t>"List all crops in the database"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282696" y="3310128"/>
            <a:ext cx="2496312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F8C8D"/>
                </a:solidFill>
              </a:rPr>
              <a:t>"How many rows in yield table?"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282696" y="3877056"/>
            <a:ext cx="2496312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F8C8D"/>
                </a:solidFill>
              </a:rPr>
              <a:t>"Show crop_id = 5"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071616" y="2057400"/>
            <a:ext cx="2715768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blurRad="76200" dist="25400" dir="8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71616" y="2057400"/>
            <a:ext cx="2715768" cy="29260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63056" y="2057400"/>
            <a:ext cx="253288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platform_query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181344" y="2423160"/>
            <a:ext cx="249631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3C"/>
                </a:solidFill>
              </a:rPr>
              <a:t>Example queries: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81344" y="2743200"/>
            <a:ext cx="2496312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F8C8D"/>
                </a:solidFill>
              </a:rPr>
              <a:t>"How do I reset my password?"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181344" y="3310128"/>
            <a:ext cx="2496312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F8C8D"/>
                </a:solidFill>
              </a:rPr>
              <a:t>"What is the Quick Glance section?"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181344" y="3877056"/>
            <a:ext cx="2496312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F8C8D"/>
                </a:solidFill>
              </a:rPr>
              <a:t>"What is a training feature set?"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8C8D"/>
                </a:solidFill>
              </a:rPr>
              <a:t>Muhammed Ajmal M C  ·  AMU  ·  Spring Internship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9144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0"/>
            <a:ext cx="8229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The Dataset I Collected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1920240" cy="1078992"/>
          </a:xfrm>
          <a:prstGeom prst="rect">
            <a:avLst/>
          </a:prstGeom>
          <a:solidFill>
            <a:srgbClr val="1A2B3C"/>
          </a:solidFill>
          <a:ln w="12700">
            <a:solidFill>
              <a:srgbClr val="0D7377"/>
            </a:solidFill>
            <a:prstDash val="solid"/>
          </a:ln>
          <a:effectLst>
            <a:outerShdw blurRad="76200" dist="25400" dir="8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097280"/>
            <a:ext cx="1920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4BDBC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3,847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74320" y="1783080"/>
            <a:ext cx="19202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Total Queries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051560"/>
            <a:ext cx="1920240" cy="1078992"/>
          </a:xfrm>
          <a:prstGeom prst="rect">
            <a:avLst/>
          </a:prstGeom>
          <a:solidFill>
            <a:srgbClr val="1A2B3C"/>
          </a:solidFill>
          <a:ln w="12700">
            <a:solidFill>
              <a:srgbClr val="0D7377"/>
            </a:solidFill>
            <a:prstDash val="solid"/>
          </a:ln>
          <a:effectLst>
            <a:outerShdw blurRad="76200" dist="25400" dir="8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50592" y="1097280"/>
            <a:ext cx="1920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4BDBC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3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450592" y="1783080"/>
            <a:ext cx="19202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Intent Classes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26864" y="1051560"/>
            <a:ext cx="1920240" cy="1078992"/>
          </a:xfrm>
          <a:prstGeom prst="rect">
            <a:avLst/>
          </a:prstGeom>
          <a:solidFill>
            <a:srgbClr val="1A2B3C"/>
          </a:solidFill>
          <a:ln w="12700">
            <a:solidFill>
              <a:srgbClr val="0D7377"/>
            </a:solidFill>
            <a:prstDash val="solid"/>
          </a:ln>
          <a:effectLst>
            <a:outerShdw blurRad="76200" dist="25400" dir="8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26864" y="1097280"/>
            <a:ext cx="1920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4BDBC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80/20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626864" y="1783080"/>
            <a:ext cx="19202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Train / Test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03136" y="1051560"/>
            <a:ext cx="1920240" cy="1078992"/>
          </a:xfrm>
          <a:prstGeom prst="rect">
            <a:avLst/>
          </a:prstGeom>
          <a:solidFill>
            <a:srgbClr val="1A2B3C"/>
          </a:solidFill>
          <a:ln w="12700">
            <a:solidFill>
              <a:srgbClr val="0D7377"/>
            </a:solidFill>
            <a:prstDash val="solid"/>
          </a:ln>
          <a:effectLst>
            <a:outerShdw blurRad="76200" dist="25400" dir="8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03136" y="1097280"/>
            <a:ext cx="1920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4BDBC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~97%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803136" y="1783080"/>
            <a:ext cx="19202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Accuracy</a:t>
            </a:r>
            <a:endParaRPr lang="en-US" sz="11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2453481"/>
              </p:ext>
            </p:extLst>
          </p:nvPr>
        </p:nvGraphicFramePr>
        <p:xfrm>
          <a:off x="274320" y="2286000"/>
          <a:ext cx="8595360" cy="2121408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Intent Class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Excel Sheet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Sample Question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Count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general_query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General Queries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What is the boiling point of water?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1,200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database_query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Database Queries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List all crops ordered by creation date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1,203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platform_query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Platform Queries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How do I navigate to Model Building?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1,444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8C8D"/>
                </a:solidFill>
              </a:rPr>
              <a:t>Muhammed Ajmal M C  ·  AMU  ·  Spring Internship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D9944BD-F8A7-3C27-4C62-9279BFBBA0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4486" y="1059443"/>
            <a:ext cx="6407106" cy="3737216"/>
          </a:xfrm>
          <a:prstGeom prst="rect">
            <a:avLst/>
          </a:prstGeom>
        </p:spPr>
      </p:pic>
      <p:sp>
        <p:nvSpPr>
          <p:cNvPr id="7" name="Shape 0">
            <a:extLst>
              <a:ext uri="{FF2B5EF4-FFF2-40B4-BE49-F238E27FC236}">
                <a16:creationId xmlns:a16="http://schemas.microsoft.com/office/drawing/2014/main" id="{BB9B7F66-A13B-561B-DD82-B41F22DC5B78}"/>
              </a:ext>
            </a:extLst>
          </p:cNvPr>
          <p:cNvSpPr/>
          <p:nvPr/>
        </p:nvSpPr>
        <p:spPr>
          <a:xfrm>
            <a:off x="151349" y="0"/>
            <a:ext cx="9144000" cy="914400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  <p:txBody>
          <a:bodyPr/>
          <a:lstStyle/>
          <a:p>
            <a:r>
              <a:rPr lang="en-US" dirty="0"/>
              <a:t>P         </a:t>
            </a:r>
          </a:p>
          <a:p>
            <a:r>
              <a:rPr lang="en-US" dirty="0"/>
              <a:t>             </a:t>
            </a:r>
            <a:r>
              <a:rPr lang="en-US" sz="3200" dirty="0">
                <a:solidFill>
                  <a:schemeClr val="bg1"/>
                </a:solidFill>
                <a:latin typeface="Georgia" panose="02040502050405020303" pitchFamily="18" charset="0"/>
              </a:rPr>
              <a:t>pipeline flowchart</a:t>
            </a:r>
          </a:p>
          <a:p>
            <a:endParaRPr lang="en-US" dirty="0"/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765D1B12-797C-949F-F436-24FD265974A7}"/>
              </a:ext>
            </a:extLst>
          </p:cNvPr>
          <p:cNvSpPr/>
          <p:nvPr/>
        </p:nvSpPr>
        <p:spPr>
          <a:xfrm>
            <a:off x="0" y="0"/>
            <a:ext cx="457200" cy="9144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F9449BFC-F016-C8CD-B447-2FD59E2EC25C}"/>
                  </a:ext>
                </a:extLst>
              </p14:cNvPr>
              <p14:cNvContentPartPr/>
              <p14:nvPr/>
            </p14:nvContentPartPr>
            <p14:xfrm>
              <a:off x="5435926" y="2995200"/>
              <a:ext cx="360" cy="176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F9449BFC-F016-C8CD-B447-2FD59E2EC25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29806" y="2989080"/>
                <a:ext cx="12600" cy="29880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Shape 8">
            <a:extLst>
              <a:ext uri="{FF2B5EF4-FFF2-40B4-BE49-F238E27FC236}">
                <a16:creationId xmlns:a16="http://schemas.microsoft.com/office/drawing/2014/main" id="{29E881FF-9E21-E7A3-BEA9-90BBFC401C48}"/>
              </a:ext>
            </a:extLst>
          </p:cNvPr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9A6DB06-536A-C3DB-2132-C759D60EE695}"/>
              </a:ext>
            </a:extLst>
          </p:cNvPr>
          <p:cNvSpPr txBox="1"/>
          <p:nvPr/>
        </p:nvSpPr>
        <p:spPr>
          <a:xfrm>
            <a:off x="2714781" y="4881890"/>
            <a:ext cx="54430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7F8C8D"/>
                </a:solidFill>
              </a:rPr>
              <a:t>Muhammed Ajmal M C  ·  AMU  ·  Spring Internship 2026</a:t>
            </a:r>
            <a:endParaRPr lang="en-US" sz="1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04918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9144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0"/>
            <a:ext cx="8229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How the Model Works — Pipeline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1078992"/>
            <a:ext cx="1600200" cy="868680"/>
          </a:xfrm>
          <a:prstGeom prst="rect">
            <a:avLst/>
          </a:prstGeom>
          <a:solidFill>
            <a:srgbClr val="1A2B3C"/>
          </a:solidFill>
          <a:ln w="12700">
            <a:solidFill>
              <a:srgbClr val="0D7377"/>
            </a:solidFill>
            <a:prstDash val="solid"/>
          </a:ln>
          <a:effectLst>
            <a:outerShdw blurRad="76200" dist="25400" dir="8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" y="1078992"/>
            <a:ext cx="16002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User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Query Text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28800" y="1463040"/>
            <a:ext cx="274320" cy="7315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48840" y="1051560"/>
            <a:ext cx="2029968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blurRad="76200" dist="25400" dir="8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148840" y="1051560"/>
            <a:ext cx="2029968" cy="32004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48840" y="1051560"/>
            <a:ext cx="202996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TF-IDF + SVD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258568" y="1463040"/>
            <a:ext cx="1810512" cy="685800"/>
          </a:xfrm>
          <a:prstGeom prst="rect">
            <a:avLst/>
          </a:prstGeom>
          <a:solidFill>
            <a:srgbClr val="F5F0E8"/>
          </a:solidFill>
          <a:ln w="12700">
            <a:solidFill>
              <a:srgbClr val="E8E0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58568" y="1463040"/>
            <a:ext cx="1810512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C3E50"/>
                </a:solidFill>
              </a:rPr>
              <a:t>TfidfVectorizer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C3E50"/>
                </a:solidFill>
              </a:rPr>
              <a:t>max_features=5,000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58568" y="2286000"/>
            <a:ext cx="1810512" cy="685800"/>
          </a:xfrm>
          <a:prstGeom prst="rect">
            <a:avLst/>
          </a:prstGeom>
          <a:solidFill>
            <a:srgbClr val="F5F0E8"/>
          </a:solidFill>
          <a:ln w="12700">
            <a:solidFill>
              <a:srgbClr val="E8E0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58568" y="2286000"/>
            <a:ext cx="1810512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C3E50"/>
                </a:solidFill>
              </a:rPr>
              <a:t>TruncatedSVD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C3E50"/>
                </a:solidFill>
              </a:rPr>
              <a:t>300 components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61688" y="1051560"/>
            <a:ext cx="2029968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blurRad="76200" dist="25400" dir="8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61688" y="1051560"/>
            <a:ext cx="2029968" cy="3200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61688" y="1051560"/>
            <a:ext cx="202996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Embeddings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471416" y="1463040"/>
            <a:ext cx="1810512" cy="685800"/>
          </a:xfrm>
          <a:prstGeom prst="rect">
            <a:avLst/>
          </a:prstGeom>
          <a:solidFill>
            <a:srgbClr val="F5F0E8"/>
          </a:solidFill>
          <a:ln w="12700">
            <a:solidFill>
              <a:srgbClr val="E8E0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71416" y="1463040"/>
            <a:ext cx="1810512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C3E50"/>
                </a:solidFill>
              </a:rPr>
              <a:t>SentenceTransformer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C3E50"/>
                </a:solidFill>
              </a:rPr>
              <a:t>all-MiniLM-L6-v2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471416" y="2286000"/>
            <a:ext cx="1810512" cy="685800"/>
          </a:xfrm>
          <a:prstGeom prst="rect">
            <a:avLst/>
          </a:prstGeom>
          <a:solidFill>
            <a:srgbClr val="F5F0E8"/>
          </a:solidFill>
          <a:ln w="12700">
            <a:solidFill>
              <a:srgbClr val="E8E0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71416" y="2286000"/>
            <a:ext cx="1810512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C3E50"/>
                </a:solidFill>
              </a:rPr>
              <a:t>384-dim semantic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C3E50"/>
                </a:solidFill>
              </a:rPr>
              <a:t>vectors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574536" y="1051560"/>
            <a:ext cx="2029968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blurRad="76200" dist="25400" dir="8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574536" y="1051560"/>
            <a:ext cx="2029968" cy="320040"/>
          </a:xfrm>
          <a:prstGeom prst="rect">
            <a:avLst/>
          </a:prstGeom>
          <a:solidFill>
            <a:srgbClr val="6E2F8A"/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74536" y="1051560"/>
            <a:ext cx="202996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Metadata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684264" y="1463040"/>
            <a:ext cx="1810512" cy="685800"/>
          </a:xfrm>
          <a:prstGeom prst="rect">
            <a:avLst/>
          </a:prstGeom>
          <a:solidFill>
            <a:srgbClr val="F5F0E8"/>
          </a:solidFill>
          <a:ln w="12700">
            <a:solidFill>
              <a:srgbClr val="E8E0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84264" y="1463040"/>
            <a:ext cx="1810512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C3E50"/>
                </a:solidFill>
              </a:rPr>
              <a:t>char_length, word_count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C3E50"/>
                </a:solidFill>
              </a:rPr>
              <a:t>avg_word_length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684264" y="2286000"/>
            <a:ext cx="1810512" cy="685800"/>
          </a:xfrm>
          <a:prstGeom prst="rect">
            <a:avLst/>
          </a:prstGeom>
          <a:solidFill>
            <a:srgbClr val="F5F0E8"/>
          </a:solidFill>
          <a:ln w="12700">
            <a:solidFill>
              <a:srgbClr val="E8E0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84264" y="2286000"/>
            <a:ext cx="1810512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C3E50"/>
                </a:solidFill>
              </a:rPr>
              <a:t>uppercase_ratio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C3E50"/>
                </a:solidFill>
              </a:rPr>
              <a:t>digit_ratio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148840" y="3749040"/>
            <a:ext cx="6638544" cy="274320"/>
          </a:xfrm>
          <a:prstGeom prst="rect">
            <a:avLst/>
          </a:prstGeom>
          <a:solidFill>
            <a:srgbClr val="14BDBC">
              <a:alpha val="70000"/>
            </a:srgbClr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148840" y="3749040"/>
            <a:ext cx="663854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B3C"/>
                </a:solidFill>
              </a:rPr>
              <a:t>ColumnTransformer — 3 branches run in parallel on the same query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120640" y="4023360"/>
            <a:ext cx="73152" cy="25603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977640" y="4279392"/>
            <a:ext cx="2377440" cy="530352"/>
          </a:xfrm>
          <a:prstGeom prst="rect">
            <a:avLst/>
          </a:prstGeom>
          <a:solidFill>
            <a:srgbClr val="1A2B3C"/>
          </a:solidFill>
          <a:ln w="12700">
            <a:solidFill>
              <a:srgbClr val="0D7377"/>
            </a:solidFill>
            <a:prstDash val="solid"/>
          </a:ln>
          <a:effectLst>
            <a:outerShdw blurRad="76200" dist="25400" dir="8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977640" y="4279392"/>
            <a:ext cx="23774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BDBC"/>
                </a:solidFill>
              </a:rPr>
              <a:t>Logistic Regression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492240" y="4279392"/>
            <a:ext cx="2377440" cy="53035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  <a:effectLst>
            <a:outerShdw blurRad="76200" dist="25400" dir="8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492240" y="4279392"/>
            <a:ext cx="23774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→ Predicted Intent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8C8D"/>
                </a:solidFill>
              </a:rPr>
              <a:t>Muhammed Ajmal M C  ·  AMU  ·  Spring Internship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9144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0"/>
            <a:ext cx="8229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Design Decisions — Why I Did It This Way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56032" y="1078992"/>
            <a:ext cx="2724912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blurRad="76200" dist="25400" dir="8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078992"/>
            <a:ext cx="91440" cy="171907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170432"/>
            <a:ext cx="245059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</a:rPr>
              <a:t>Why TF-IDF?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" y="1536192"/>
            <a:ext cx="2450592" cy="11704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F8C8D"/>
                </a:solidFill>
              </a:rPr>
              <a:t>Captures domain vocabulary like 'crop_id', 'ARIMA'. SVD removes noise and keeps key patterns.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63824" y="1078992"/>
            <a:ext cx="2724912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blurRad="76200" dist="25400" dir="8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63824" y="1078992"/>
            <a:ext cx="91440" cy="17190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46704" y="1170432"/>
            <a:ext cx="245059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</a:rPr>
              <a:t>Why Embeddings?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46704" y="1536192"/>
            <a:ext cx="2450592" cy="11704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F8C8D"/>
                </a:solidFill>
              </a:rPr>
              <a:t>Short queries like 'What is NPCYF?' have little TF-IDF signal but carry strong semantic meaning.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71616" y="1078992"/>
            <a:ext cx="2724912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blurRad="76200" dist="25400" dir="8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71616" y="1078992"/>
            <a:ext cx="91440" cy="1719072"/>
          </a:xfrm>
          <a:prstGeom prst="rect">
            <a:avLst/>
          </a:prstGeom>
          <a:solidFill>
            <a:srgbClr val="6E2F8A"/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54496" y="1170432"/>
            <a:ext cx="245059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</a:rPr>
              <a:t>Why Metadata?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54496" y="1536192"/>
            <a:ext cx="2450592" cy="11704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F8C8D"/>
                </a:solidFill>
              </a:rPr>
              <a:t>DB queries tend to be longer with more numbers. char_length and digit_ratio pick up these structural cues.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56032" y="2962656"/>
            <a:ext cx="2724912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blurRad="76200" dist="25400" dir="8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6032" y="2962656"/>
            <a:ext cx="91440" cy="1719072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3054096"/>
            <a:ext cx="245059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</a:rPr>
              <a:t>Why Logistic Regression?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38912" y="3419856"/>
            <a:ext cx="2450592" cy="11704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F8C8D"/>
                </a:solidFill>
              </a:rPr>
              <a:t>Three well-separated classes in high-dimensional space. Fast, interpretable, and achieves 97% accuracy.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163824" y="2962656"/>
            <a:ext cx="2724912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blurRad="76200" dist="25400" dir="8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63824" y="2962656"/>
            <a:ext cx="91440" cy="171907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46704" y="3054096"/>
            <a:ext cx="245059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</a:rPr>
              <a:t>Why ColumnTransformer?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46704" y="3419856"/>
            <a:ext cx="2450592" cy="11704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F8C8D"/>
                </a:solidFill>
              </a:rPr>
              <a:t>Text and numbers need different preprocessing. CT applies the right pipeline to each column type at once.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071616" y="2962656"/>
            <a:ext cx="2724912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blurRad="76200" dist="25400" dir="8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71616" y="2962656"/>
            <a:ext cx="91440" cy="1719072"/>
          </a:xfrm>
          <a:prstGeom prst="rect">
            <a:avLst/>
          </a:prstGeom>
          <a:solidFill>
            <a:srgbClr val="7F3030"/>
          </a:solidFill>
          <a:ln w="12700">
            <a:solidFill>
              <a:srgbClr val="7F303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54496" y="3054096"/>
            <a:ext cx="245059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</a:rPr>
              <a:t>Why Pickle?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54496" y="3419856"/>
            <a:ext cx="2450592" cy="11704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F8C8D"/>
                </a:solidFill>
              </a:rPr>
              <a:t>Saves the full pipeline as one file. Load it anywhere — no rebuilding or retraining needed.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8C8D"/>
                </a:solidFill>
              </a:rPr>
              <a:t>Muhammed Ajmal M C  ·  AMU  ·  Spring Internship 2026</a:t>
            </a:r>
            <a:endParaRPr lang="en-US" sz="9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7FA9DDE0-1769-5AED-F1CB-490BF4CB1CB1}"/>
                  </a:ext>
                </a:extLst>
              </p14:cNvPr>
              <p14:cNvContentPartPr/>
              <p14:nvPr/>
            </p14:nvContentPartPr>
            <p14:xfrm>
              <a:off x="2301766" y="5107680"/>
              <a:ext cx="360" cy="36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7FA9DDE0-1769-5AED-F1CB-490BF4CB1CB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95646" y="510156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A162E03A-D206-B05C-74B1-AC29EE952089}"/>
                  </a:ext>
                </a:extLst>
              </p14:cNvPr>
              <p14:cNvContentPartPr/>
              <p14:nvPr/>
            </p14:nvContentPartPr>
            <p14:xfrm>
              <a:off x="3764806" y="5076360"/>
              <a:ext cx="360" cy="36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A162E03A-D206-B05C-74B1-AC29EE95208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58686" y="5070240"/>
                <a:ext cx="1260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597B882B-34FF-DC86-D5A8-A9C4BC3B40FF}"/>
              </a:ext>
            </a:extLst>
          </p:cNvPr>
          <p:cNvGrpSpPr/>
          <p:nvPr/>
        </p:nvGrpSpPr>
        <p:grpSpPr>
          <a:xfrm>
            <a:off x="819286" y="5025960"/>
            <a:ext cx="360" cy="360"/>
            <a:chOff x="819286" y="5025960"/>
            <a:chExt cx="360" cy="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557C8D92-E802-6047-2DB0-811CC880B3F9}"/>
                    </a:ext>
                  </a:extLst>
                </p14:cNvPr>
                <p14:cNvContentPartPr/>
                <p14:nvPr/>
              </p14:nvContentPartPr>
              <p14:xfrm>
                <a:off x="819286" y="5025960"/>
                <a:ext cx="360" cy="3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557C8D92-E802-6047-2DB0-811CC880B3F9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13166" y="501984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C3DFC47-C653-F3D9-CBB0-E014B93AD8F8}"/>
                    </a:ext>
                  </a:extLst>
                </p14:cNvPr>
                <p14:cNvContentPartPr/>
                <p14:nvPr/>
              </p14:nvContentPartPr>
              <p14:xfrm>
                <a:off x="819286" y="5025960"/>
                <a:ext cx="360" cy="3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6C3DFC47-C653-F3D9-CBB0-E014B93AD8F8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13166" y="501984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A010BC5-F4B2-E778-B88A-4FD32B83AF09}"/>
                    </a:ext>
                  </a:extLst>
                </p14:cNvPr>
                <p14:cNvContentPartPr/>
                <p14:nvPr/>
              </p14:nvContentPartPr>
              <p14:xfrm>
                <a:off x="819286" y="5025960"/>
                <a:ext cx="360" cy="3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A010BC5-F4B2-E778-B88A-4FD32B83AF09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13166" y="501984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9144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0"/>
            <a:ext cx="8229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Results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56032" y="1051560"/>
            <a:ext cx="1920240" cy="1508760"/>
          </a:xfrm>
          <a:prstGeom prst="rect">
            <a:avLst/>
          </a:prstGeom>
          <a:solidFill>
            <a:srgbClr val="1A2B3C"/>
          </a:solidFill>
          <a:ln w="12700">
            <a:solidFill>
              <a:srgbClr val="0D7377"/>
            </a:solidFill>
            <a:prstDash val="solid"/>
          </a:ln>
          <a:effectLst>
            <a:outerShdw blurRad="76200" dist="25400" dir="8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56032" y="1097280"/>
            <a:ext cx="19202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4BDBC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~98.3%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256032" y="2057400"/>
            <a:ext cx="19202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Overall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Accuracy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7695737"/>
              </p:ext>
            </p:extLst>
          </p:nvPr>
        </p:nvGraphicFramePr>
        <p:xfrm>
          <a:off x="256032" y="2724912"/>
          <a:ext cx="4114800" cy="1682496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Class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Correct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Total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Acc.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database_query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99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-120"/>
                        </a:rPr>
                        <a:t>100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99%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general_query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-120"/>
                        </a:rPr>
                        <a:t>100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-120"/>
                        </a:rPr>
                        <a:t>100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100%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platform_query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-120"/>
                        </a:rPr>
                        <a:t>96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-120"/>
                        </a:rPr>
                        <a:t>100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96%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6"/>
          <p:cNvSpPr/>
          <p:nvPr/>
        </p:nvSpPr>
        <p:spPr>
          <a:xfrm>
            <a:off x="4572000" y="1051560"/>
            <a:ext cx="4315968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blurRad="76200" dist="25400" dir="8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663440" y="1078992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B3C"/>
                </a:solidFill>
              </a:rPr>
              <a:t>Confusion Matrix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8C8D"/>
                </a:solidFill>
              </a:rPr>
              <a:t>Muhammed Ajmal M C  ·  AMU  ·  Spring Internship 2026</a:t>
            </a:r>
            <a:endParaRPr lang="en-US" sz="9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124E2EC-9F30-15A3-475A-2C46223FAFB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8680" y="1443672"/>
            <a:ext cx="4099560" cy="28733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9144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0"/>
            <a:ext cx="8229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Deployment — Making It Work in Real Time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56032" y="1051560"/>
            <a:ext cx="40233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blurRad="76200" dist="25400" dir="8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051560"/>
            <a:ext cx="4023360" cy="14630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252728"/>
            <a:ext cx="37490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3C"/>
                </a:solidFill>
              </a:rPr>
              <a:t>Saving the model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84048" y="1664208"/>
            <a:ext cx="374904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</a:rPr>
              <a:t>The entire pipeline — ColumnTransformer (all 3 feature branches) plus Logistic Regression — is saved as a single .pkl file.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</a:rPr>
              <a:t>This means one file gives you complete preprocessing + prediction. No rebuilding, no retraining.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84048" y="3291840"/>
            <a:ext cx="3657600" cy="1234440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3291840"/>
            <a:ext cx="3657600" cy="1234440"/>
          </a:xfrm>
          <a:prstGeom prst="rect">
            <a:avLst/>
          </a:prstGeom>
          <a:noFill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4BDB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import pickle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4BDB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 Save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4BDB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with open('intent_classifier.pkl','wb') as f: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4BDB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pickle.dump(full_pipeline, f)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4BDB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 Load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4BDB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model = pickle.load(open('intent_classifier.pkl','rb'))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26280" y="1051560"/>
            <a:ext cx="4370832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blurRad="76200" dist="25400" dir="8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26280" y="1051560"/>
            <a:ext cx="4370832" cy="14630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252728"/>
            <a:ext cx="40233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3C"/>
                </a:solidFill>
              </a:rPr>
              <a:t>Prediction flow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645152" y="1691640"/>
            <a:ext cx="365760" cy="365760"/>
          </a:xfrm>
          <a:prstGeom prst="ellipse">
            <a:avLst/>
          </a:prstGeom>
          <a:solidFill>
            <a:srgbClr val="1A2B3C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45152" y="16916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120640" y="1655064"/>
            <a:ext cx="36118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</a:rPr>
              <a:t>Load model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20640" y="1874520"/>
            <a:ext cx="3611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8C8D"/>
                </a:solidFill>
              </a:rPr>
              <a:t>pickle.load('intent_classifier.pkl')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45152" y="2313432"/>
            <a:ext cx="365760" cy="365760"/>
          </a:xfrm>
          <a:prstGeom prst="ellipse">
            <a:avLst/>
          </a:prstGeom>
          <a:solidFill>
            <a:srgbClr val="1A2B3C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45152" y="231343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120640" y="2276856"/>
            <a:ext cx="36118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</a:rPr>
              <a:t>Receive query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20640" y="2496312"/>
            <a:ext cx="3611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8C8D"/>
                </a:solidFill>
              </a:rPr>
              <a:t>User types question into NPCYF CoPilot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45152" y="2935224"/>
            <a:ext cx="365760" cy="365760"/>
          </a:xfrm>
          <a:prstGeom prst="ellipse">
            <a:avLst/>
          </a:prstGeom>
          <a:solidFill>
            <a:srgbClr val="1A2B3C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45152" y="2935224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120640" y="2898648"/>
            <a:ext cx="36118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</a:rPr>
              <a:t>Build DataFrame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120640" y="3118104"/>
            <a:ext cx="3611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8C8D"/>
                </a:solidFill>
              </a:rPr>
              <a:t>text + char_length, word_count, ratios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45152" y="3557016"/>
            <a:ext cx="365760" cy="365760"/>
          </a:xfrm>
          <a:prstGeom prst="ellipse">
            <a:avLst/>
          </a:prstGeom>
          <a:solidFill>
            <a:srgbClr val="1A2B3C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45152" y="3557016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120640" y="3520440"/>
            <a:ext cx="36118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</a:rPr>
              <a:t>model.predict(df)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120640" y="3739896"/>
            <a:ext cx="3611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8C8D"/>
                </a:solidFill>
              </a:rPr>
              <a:t>Full pipeline preprocesses + classifies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45152" y="4178808"/>
            <a:ext cx="365760" cy="365760"/>
          </a:xfrm>
          <a:prstGeom prst="ellipse">
            <a:avLst/>
          </a:prstGeom>
          <a:solidFill>
            <a:srgbClr val="1A2B3C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45152" y="417880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120640" y="4142232"/>
            <a:ext cx="36118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</a:rPr>
              <a:t>Return intent label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120640" y="4361688"/>
            <a:ext cx="3611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8C8D"/>
                </a:solidFill>
              </a:rPr>
              <a:t>0→database  1→general  2→platform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8C8D"/>
                </a:solidFill>
              </a:rPr>
              <a:t>Muhammed Ajmal M C  ·  AMU  ·  Spring Internship 2026</a:t>
            </a:r>
            <a:endParaRPr lang="en-US" sz="9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E4D8F086-4765-8BF9-D786-3FE26FEC457F}"/>
                  </a:ext>
                </a:extLst>
              </p14:cNvPr>
              <p14:cNvContentPartPr/>
              <p14:nvPr/>
            </p14:nvContentPartPr>
            <p14:xfrm>
              <a:off x="920806" y="5070240"/>
              <a:ext cx="360" cy="36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E4D8F086-4765-8BF9-D786-3FE26FEC457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14686" y="5064120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457200" cy="5088636"/>
          </a:xfrm>
          <a:prstGeom prst="rect">
            <a:avLst/>
          </a:prstGeom>
          <a:solidFill>
            <a:srgbClr val="111E2A"/>
          </a:solidFill>
          <a:ln w="12700">
            <a:solidFill>
              <a:srgbClr val="111E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What I Learned &amp; Achieved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94360" y="1097280"/>
            <a:ext cx="4572000" cy="457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234440"/>
            <a:ext cx="1188720" cy="43891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34440"/>
            <a:ext cx="11887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Platform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920240" y="1289304"/>
            <a:ext cx="6995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BDBC"/>
                </a:solidFill>
              </a:rPr>
              <a:t>Contributed to NPCYF — a national AI platform for crop forecasting under FASAL 2.0 at ISI Kolkata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94360" y="1938528"/>
            <a:ext cx="1188720" cy="438912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938528"/>
            <a:ext cx="11887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Built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20240" y="1993392"/>
            <a:ext cx="6995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BDBC"/>
                </a:solidFill>
              </a:rPr>
              <a:t>Designed a full NLP pipeline combining TF-IDF, sentence embeddings, and text metadata from scratch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94360" y="2642616"/>
            <a:ext cx="1188720" cy="438912"/>
          </a:xfrm>
          <a:prstGeom prst="rect">
            <a:avLst/>
          </a:prstGeom>
          <a:solidFill>
            <a:srgbClr val="6E2F8A"/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642616"/>
            <a:ext cx="11887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Dataset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920240" y="2697480"/>
            <a:ext cx="6995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BDBC"/>
                </a:solidFill>
              </a:rPr>
              <a:t>Collected and cleaned 3,839 domain-specific NPCYF queries across 3 balanced intent classes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94360" y="3346704"/>
            <a:ext cx="1188720" cy="43891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346704"/>
            <a:ext cx="11887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Achieved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920240" y="3401568"/>
            <a:ext cx="6995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BDBC"/>
                </a:solidFill>
              </a:rPr>
              <a:t>~98.3% classification accuracy — general_query at 100%, database and platform at 96% each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94360" y="4050792"/>
            <a:ext cx="1188720" cy="438912"/>
          </a:xfrm>
          <a:prstGeom prst="rect">
            <a:avLst/>
          </a:prstGeom>
          <a:solidFill>
            <a:srgbClr val="7F3030"/>
          </a:solidFill>
          <a:ln w="12700">
            <a:solidFill>
              <a:srgbClr val="7F30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4050792"/>
            <a:ext cx="11887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Deployed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920240" y="4105656"/>
            <a:ext cx="6995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BDBC"/>
                </a:solidFill>
              </a:rPr>
              <a:t>Model saved as a single .pkl file for real-time query routing in the NPCYF AI CoPilot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11E2A"/>
          </a:solidFill>
          <a:ln w="12700">
            <a:solidFill>
              <a:srgbClr val="111E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8C8D"/>
                </a:solidFill>
              </a:rPr>
              <a:t>Muhammed Ajmal M C  ·  M.Sc. Data Science, AMU  ·  Guide: Kunal Gupta  ·  IDEAS-TIH, ISI Kolkata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2093</TotalTime>
  <Words>1094</Words>
  <Application>Microsoft Office PowerPoint</Application>
  <PresentationFormat>On-screen Show (16:9)</PresentationFormat>
  <Paragraphs>201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Courier New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ajmal mc</cp:lastModifiedBy>
  <cp:revision>4</cp:revision>
  <dcterms:created xsi:type="dcterms:W3CDTF">2026-03-28T10:51:00Z</dcterms:created>
  <dcterms:modified xsi:type="dcterms:W3CDTF">2026-03-30T12:32:27Z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833355BD0DB947FE8E91E8D21FBBFF6E_13</vt:lpwstr>
  </property>
  <property fmtid="{D5CDD505-2E9C-101B-9397-08002B2CF9AE}" pid="3" name="KSOProductBuildVer">
    <vt:lpwstr>1033-12.2.0.23196</vt:lpwstr>
  </property>
</Properties>
</file>